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fraude bancario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fallo sistémico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640080" y="2468880"/>
            <a:ext cx="7863840" cy="50292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63347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nacional para activar derechos ciudadanos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infraestructura pública de respuesta temprana  ·  AntiFraude / AlertaCuenta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1.0 · Mayo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fraude financiero digital crece.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institucional no lo acompaña.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2918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64008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reclamos por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digital en SERNAC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últimos 3 años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32918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371600"/>
            <a:ext cx="2651760" cy="64008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554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474720" y="26060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Reclamos bancarios por fraude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rechazados en primera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32918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371600"/>
            <a:ext cx="2651760" cy="64008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hrs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309360" y="26060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crítica en la que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ciudadano puede actuar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rara vez lo hace a tiempo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orientativas: SERNAC, CMF, Ley 20.009 y 21.673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el problema real no es solo el fraude.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estamos ante un problema de delitos.
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ante un </a:t>
            </a:r>
            <a:pPr algn="l" indent="0" marL="0">
              <a:buNone/>
            </a:pPr>
            <a:r>
              <a:rPr lang="en-US" sz="3000" b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sistémico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activación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efectiva de derechos.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8229600" cy="36576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834640"/>
            <a:ext cx="3977640" cy="2011680"/>
          </a:xfrm>
          <a:prstGeom prst="rect">
            <a:avLst/>
          </a:prstGeom>
          <a:solidFill>
            <a:srgbClr val="38383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834640"/>
            <a:ext cx="54864" cy="2011680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9443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 FORMAL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3364992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ley reconoce el derecho, el plazo, la carga probatoria y la restitución.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2834640"/>
            <a:ext cx="3977640" cy="2011680"/>
          </a:xfrm>
          <a:prstGeom prst="rect">
            <a:avLst/>
          </a:prstGeom>
          <a:solidFill>
            <a:srgbClr val="38383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834640"/>
            <a:ext cx="54864" cy="2011680"/>
          </a:xfrm>
          <a:prstGeom prst="rect">
            <a:avLst/>
          </a:prstGeom>
          <a:solidFill>
            <a:srgbClr val="4A7BC9"/>
          </a:solidFill>
          <a:ln w="12700">
            <a:solidFill>
              <a:srgbClr val="4A7B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29443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7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 OPERATIVO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0328" y="3364992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ciudadano no sabe qué hacer, cuándo actuar, cómo probar ni a quién acudir.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320040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actual: caótico, desgastante y sin guía.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1481328" cy="475488"/>
          </a:xfrm>
          <a:prstGeom prst="rect">
            <a:avLst/>
          </a:prstGeom>
          <a:solidFill>
            <a:srgbClr val="4A7BC9"/>
          </a:solidFill>
          <a:ln w="12700">
            <a:solidFill>
              <a:srgbClr val="4A7B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SOSPECHA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746504" y="914400"/>
            <a:ext cx="201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947672" y="914400"/>
            <a:ext cx="1481328" cy="475488"/>
          </a:xfrm>
          <a:prstGeom prst="rect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47672" y="9144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65576" y="914400"/>
            <a:ext cx="201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66744" y="914400"/>
            <a:ext cx="1481328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6744" y="9144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84648" y="914400"/>
            <a:ext cx="201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385816" y="914400"/>
            <a:ext cx="1481328" cy="47548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85816" y="9144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03720" y="914400"/>
            <a:ext cx="201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04888" y="914400"/>
            <a:ext cx="1481328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04888" y="9144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DENUNCIA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32520" y="822960"/>
            <a:ext cx="365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7104888" y="2011680"/>
            <a:ext cx="1481328" cy="4754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04888" y="201168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SERNAC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76288" y="2011680"/>
            <a:ext cx="201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385816" y="2011680"/>
            <a:ext cx="1481328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85816" y="201168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57216" y="2011680"/>
            <a:ext cx="201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66744" y="2011680"/>
            <a:ext cx="1481328" cy="47548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66744" y="201168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¿ABOGADO?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38144" y="2011680"/>
            <a:ext cx="201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947672" y="2011680"/>
            <a:ext cx="1481328" cy="47548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47672" y="201168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¿TRIBUNAL?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19072" y="2011680"/>
            <a:ext cx="201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28600" y="2011680"/>
            <a:ext cx="1481328" cy="475488"/>
          </a:xfrm>
          <a:prstGeom prst="rect">
            <a:avLst/>
          </a:prstGeom>
          <a:solidFill>
            <a:srgbClr val="450A0A"/>
          </a:solidFill>
          <a:ln w="12700">
            <a:solidFill>
              <a:srgbClr val="450A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01168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17520" y="566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Días de demora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0" y="5669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Sin prueba suficiente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0" y="2651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Rechazo bancario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651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Costo / tiempo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090672"/>
            <a:ext cx="8595360" cy="5486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2461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ciudadano termina actuando como integrador manual de un sistema que no fue diseñado desde su experiencia."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fallas estructurales que quiebran la cadena de derechos.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694944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04672"/>
            <a:ext cx="502920" cy="694944"/>
          </a:xfrm>
          <a:prstGeom prst="rect">
            <a:avLst/>
          </a:prstGeom>
          <a:solidFill>
            <a:srgbClr val="4A7BC9"/>
          </a:solidFill>
          <a:ln w="12700">
            <a:solidFill>
              <a:srgbClr val="4A7B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5568" y="8778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7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18872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ciudadano no sabe qué dice la ley ni qué debe hacer primero.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8229600" cy="694944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09344"/>
            <a:ext cx="502920" cy="694944"/>
          </a:xfrm>
          <a:prstGeom prst="rect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09344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5568" y="16824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199339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Banco, SERNAC, CMF, PDI y fiscal operan en silos sin protocolo compartido.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8229600" cy="694944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14016"/>
            <a:ext cx="502920" cy="6949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14016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15568" y="24871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279806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se pierde en las primeras horas. El relato se degrada.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18688"/>
            <a:ext cx="8229600" cy="694944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18688"/>
            <a:ext cx="502920" cy="6949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18688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15568" y="32918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" y="360273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plazos legales corren. La víctima no los conoce ni los sigue.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694944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23360"/>
            <a:ext cx="502920" cy="694944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15568" y="40965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NEGOCIADOR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40740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tiene abogados, procesos y datos. El ciudadano tiene urgencia.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víctima no solo pierde dinero.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trazabilidad.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627632"/>
            <a:ext cx="1600200" cy="11430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190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24942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Pantallazo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86968" y="1700784"/>
            <a:ext cx="1371600" cy="1005840"/>
          </a:xfrm>
          <a:prstGeom prst="line">
            <a:avLst/>
          </a:prstGeom>
          <a:noFill/>
          <a:ln w="31750">
            <a:solidFill>
              <a:srgbClr val="CC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1627632"/>
            <a:ext cx="1600200" cy="11430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7190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97480" y="224942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07208" y="1700784"/>
            <a:ext cx="1371600" cy="1005840"/>
          </a:xfrm>
          <a:prstGeom prst="line">
            <a:avLst/>
          </a:prstGeom>
          <a:noFill/>
          <a:ln w="31750">
            <a:solidFill>
              <a:srgbClr val="CC22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627632"/>
            <a:ext cx="1600200" cy="11430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7190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17720" y="224942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fraude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27448" y="1700784"/>
            <a:ext cx="1371600" cy="1005840"/>
          </a:xfrm>
          <a:prstGeom prst="line">
            <a:avLst/>
          </a:prstGeom>
          <a:noFill/>
          <a:ln w="31750">
            <a:solidFill>
              <a:srgbClr val="CC22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1627632"/>
            <a:ext cx="1600200" cy="11430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7190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📞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37960" y="224942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47688" y="1700784"/>
            <a:ext cx="1371600" cy="1005840"/>
          </a:xfrm>
          <a:prstGeom prst="line">
            <a:avLst/>
          </a:prstGeom>
          <a:noFill/>
          <a:ln w="31750">
            <a:solidFill>
              <a:srgbClr val="CC22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2926080"/>
            <a:ext cx="1600200" cy="11430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0175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77240" y="354787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86968" y="2999232"/>
            <a:ext cx="1371600" cy="1005840"/>
          </a:xfrm>
          <a:prstGeom prst="line">
            <a:avLst/>
          </a:prstGeom>
          <a:noFill/>
          <a:ln w="31750">
            <a:solidFill>
              <a:srgbClr val="CC22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7480" y="2926080"/>
            <a:ext cx="1600200" cy="11430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30175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🧾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697480" y="354787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07208" y="2999232"/>
            <a:ext cx="1371600" cy="1005840"/>
          </a:xfrm>
          <a:prstGeom prst="line">
            <a:avLst/>
          </a:prstGeom>
          <a:noFill/>
          <a:ln w="31750">
            <a:solidFill>
              <a:srgbClr val="CC22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2926080"/>
            <a:ext cx="1600200" cy="11430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0175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617720" y="354787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27448" y="2999232"/>
            <a:ext cx="1371600" cy="1005840"/>
          </a:xfrm>
          <a:prstGeom prst="line">
            <a:avLst/>
          </a:prstGeom>
          <a:noFill/>
          <a:ln w="31750">
            <a:solidFill>
              <a:srgbClr val="CC22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2926080"/>
            <a:ext cx="1600200" cy="11430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30175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🗓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537960" y="354787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hechos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47688" y="2999232"/>
            <a:ext cx="1371600" cy="1005840"/>
          </a:xfrm>
          <a:prstGeom prst="line">
            <a:avLst/>
          </a:prstGeom>
          <a:noFill/>
          <a:ln w="31750">
            <a:solidFill>
              <a:srgbClr val="CC22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690872"/>
            <a:ext cx="9144000" cy="457200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6908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trazabilidad, no hay reclamo.  |  Sin reclamo, no hay restitución.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cadena causal que el sistema no interrumpe.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663440" cy="347472"/>
          </a:xfrm>
          <a:prstGeom prst="rect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7772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0352" y="1124712"/>
            <a:ext cx="320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4632" y="1234440"/>
            <a:ext cx="4544568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234440"/>
            <a:ext cx="4270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/ DESINFORMACIÓN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" y="1581912"/>
            <a:ext cx="320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3504" y="1691640"/>
            <a:ext cx="4425696" cy="347472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691640"/>
            <a:ext cx="4151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TARDÍA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" y="2039112"/>
            <a:ext cx="320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2376" y="2148840"/>
            <a:ext cx="4306824" cy="34747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148840"/>
            <a:ext cx="4032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DÉBIL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2496312"/>
            <a:ext cx="320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41248" y="2606040"/>
            <a:ext cx="4187952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606040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 DÉBIL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953512"/>
            <a:ext cx="320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60120" y="3063240"/>
            <a:ext cx="4069080" cy="3474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4712" y="30632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 BANCARIO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24712" y="3410712"/>
            <a:ext cx="320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78992" y="3520440"/>
            <a:ext cx="3950208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43584" y="3520440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 DEL CASO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43584" y="3867912"/>
            <a:ext cx="320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97864" y="3977640"/>
            <a:ext cx="3831336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62456" y="3977640"/>
            <a:ext cx="3557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APRENDIZAJE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62456" y="4325112"/>
            <a:ext cx="320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316736" y="4434840"/>
            <a:ext cx="3712464" cy="347472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81328" y="4434840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FRAUDES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49240" y="777240"/>
            <a:ext cx="3520440" cy="4160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10058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eslabón roto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aplifica el siguiente.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760720" y="2103120"/>
            <a:ext cx="2743200" cy="45720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2212848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no tiene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 temprana.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36118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una plataforma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primera respuesta,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se repite.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derecho necesita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interfaz operativa.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645920" y="2487168"/>
            <a:ext cx="5852160" cy="64008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670048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Ley de Fraudes (20.009 / 21.673), la Ley del Consumidor y las normas de la CMF ya reconocen los derechos.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A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es legislativo. Es de diseño del servicio ciudadano.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que traduce derechos legales en pasos accionables, en tiempo real, para cualquier ciudadano.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Nacional de Primera Respuesta ante Fraude Financiero Digital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módulos · Una ruta ciudadana integrada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" y="11430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143000"/>
            <a:ext cx="54864" cy="1371600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80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Botón de urgencia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Contención inmediata en 60 segundos.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82112" y="11430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82112" y="1143000"/>
            <a:ext cx="54864" cy="1371600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280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Triage antifraude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64992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canal, urgencia y marco legal.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16752" y="11430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16752" y="1143000"/>
            <a:ext cx="54864" cy="1371600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280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Guía inmediata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9632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ordenados. Plazos visibles.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651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651760"/>
            <a:ext cx="54864" cy="1371600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Expediente digital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Evidencia, relato, fechas, comprobantes.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82112" y="2651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82112" y="2651760"/>
            <a:ext cx="54864" cy="1371600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Generador de actuaciones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64992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Reclamo, denuncia, carta SERNAC/CMF.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16752" y="2651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16752" y="2651760"/>
            <a:ext cx="54864" cy="1371600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Seguimiento y escalamiento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99632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alertas de plazo, derivación.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" y="4279392"/>
            <a:ext cx="8449056" cy="685800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279392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M7 · Inteligencia pública antifraude — Datos anonimizados para alertas tempranas, patrones y política pública.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ecosistema coordinado, no un sistema en silos.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749808"/>
            <a:ext cx="5669280" cy="4206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097280"/>
            <a:ext cx="4572000" cy="3291840"/>
          </a:xfrm>
          <a:prstGeom prst="ellipse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1554480"/>
            <a:ext cx="3383280" cy="2423160"/>
          </a:xfrm>
          <a:prstGeom prst="ellipse">
            <a:avLst/>
          </a:prstGeom>
          <a:solidFill>
            <a:srgbClr val="4A7BC9"/>
          </a:solidFill>
          <a:ln w="12700">
            <a:solidFill>
              <a:srgbClr val="4A7B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2057400"/>
            <a:ext cx="1737360" cy="1417320"/>
          </a:xfrm>
          <a:prstGeom prst="ellipse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205740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 AFECTADO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48840" y="16276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SERNAC · Capa ciudadana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11704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CMF · ANCI · BANCOS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822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· PDI · JPL · CAJ · Asociaciones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0" y="914400"/>
            <a:ext cx="164592" cy="777240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0608" y="960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50608" y="1298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del sistema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0" y="1920240"/>
            <a:ext cx="164592" cy="777240"/>
          </a:xfrm>
          <a:prstGeom prst="rect">
            <a:avLst/>
          </a:prstGeom>
          <a:solidFill>
            <a:srgbClr val="4A7BC9"/>
          </a:solidFill>
          <a:ln w="12700">
            <a:solidFill>
              <a:srgbClr val="4A7B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50608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7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SERNAC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50608" y="2304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ciudadana y coordinación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0" y="2926080"/>
            <a:ext cx="164592" cy="777240"/>
          </a:xfrm>
          <a:prstGeom prst="rect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2971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CMF · ANCI · BANCOS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50608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y ejecución financiera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58000" y="3931920"/>
            <a:ext cx="164592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3977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· PDI · JPL · CAJ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0608" y="4315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 y escalamiento jurídico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SERNAC: el coordinador natural de la capa ciudadana.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120640" cy="4114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SERNAC ya tiene el mandato: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el interés del consumidor, no del sistema financiero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asimetrías de información entre banco y ciudadano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y sistematiza reclamos individuales y colectivos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patrones y activa acciones sectoriales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legitimidad transversal: adultos mayores, regiones, vulnerables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777240"/>
            <a:ext cx="3200400" cy="4114800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06440" y="128016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plataforma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SERNAC.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potencia."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antes y el después desde la experiencia del ciudadano.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47472" y="777240"/>
            <a:ext cx="3977640" cy="411480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"Estoy solo,</a:t>
            </a:r>
            <a:endParaRPr lang="en-US" sz="18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confundido</a:t>
            </a:r>
            <a:endParaRPr lang="en-US" sz="18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ya llegué tarde."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724912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No sé a quién llamar primero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Perdí los pantallazos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El banco me rechazó el reclamo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No sé si vale la pena seguir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5112" y="777240"/>
            <a:ext cx="128016" cy="4114800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53128" y="777240"/>
            <a:ext cx="4343400" cy="4114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960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PLATAFORMA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4173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"Sé qué hacer,</a:t>
            </a:r>
            <a:endParaRPr lang="en-US" sz="1700" dirty="0"/>
          </a:p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 evidencia</a:t>
            </a:r>
            <a:endParaRPr lang="en-US" sz="1700" dirty="0"/>
          </a:p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puedo escalar."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Primeros pasos en 60 segundos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Expediente digital desde el inicio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Reclamo generado con mis datos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Alerta cuando vence cada plazo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caso aislado al aprendizaje sistémico.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7472" y="777240"/>
            <a:ext cx="3977640" cy="4114800"/>
          </a:xfrm>
          <a:prstGeom prst="rect">
            <a:avLst/>
          </a:prstGeom>
          <a:solidFill>
            <a:srgbClr val="3A3A3A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Casos fragmentados entre instituciones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Estadísticas con meses de rezago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Patrones invisibles hasta que escalan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Política reactiva basada en titulares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Bajo poder de negociación sectorial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18888" y="777240"/>
            <a:ext cx="3977640" cy="4114800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10912" y="960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INTELIGENCIA</a:t>
            </a:r>
            <a:endParaRPr lang="en-US" sz="1300" dirty="0"/>
          </a:p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ANTIFRAUDE PÚBLICA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10912" y="164592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Datos en tiempo real por tipo, canal y región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Alertas tempranas ante nuevas modalidades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Fiscalización proactiva basada en patrones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Política pública informada por evidencia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Negociación sectorial respaldada por datos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existe un prototipo funcional.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en Claude Impact Lab Chile 2026 — demostrable hoy.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2670048" cy="1371600"/>
          </a:xfrm>
          <a:prstGeom prst="rect">
            <a:avLst/>
          </a:prstGeom>
          <a:solidFill>
            <a:srgbClr val="EDF4FF"/>
          </a:solidFill>
          <a:ln w="19050">
            <a:solidFill>
              <a:srgbClr val="4A7B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261872"/>
            <a:ext cx="2670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84632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antifraude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70432"/>
            <a:ext cx="2670048" cy="1371600"/>
          </a:xfrm>
          <a:prstGeom prst="rect">
            <a:avLst/>
          </a:prstGeom>
          <a:solidFill>
            <a:srgbClr val="EDF4FF"/>
          </a:solidFill>
          <a:ln w="19050">
            <a:solidFill>
              <a:srgbClr val="4A7B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261872"/>
            <a:ext cx="2670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53328" y="1170432"/>
            <a:ext cx="2670048" cy="1371600"/>
          </a:xfrm>
          <a:prstGeom prst="rect">
            <a:avLst/>
          </a:prstGeom>
          <a:solidFill>
            <a:srgbClr val="EDF4FF"/>
          </a:solidFill>
          <a:ln w="19050">
            <a:solidFill>
              <a:srgbClr val="4A7B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53328" y="1261872"/>
            <a:ext cx="2670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90488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2679192"/>
            <a:ext cx="2670048" cy="1371600"/>
          </a:xfrm>
          <a:prstGeom prst="rect">
            <a:avLst/>
          </a:prstGeom>
          <a:solidFill>
            <a:srgbClr val="EDF4FF"/>
          </a:solidFill>
          <a:ln w="19050">
            <a:solidFill>
              <a:srgbClr val="4A7B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770632"/>
            <a:ext cx="2670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4632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incidentes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679192"/>
            <a:ext cx="2670048" cy="1371600"/>
          </a:xfrm>
          <a:prstGeom prst="rect">
            <a:avLst/>
          </a:prstGeom>
          <a:solidFill>
            <a:srgbClr val="FFF8EE"/>
          </a:solidFill>
          <a:ln w="19050">
            <a:solidFill>
              <a:srgbClr val="E868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770632"/>
            <a:ext cx="2670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33756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plazo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53328" y="2679192"/>
            <a:ext cx="2670048" cy="1371600"/>
          </a:xfrm>
          <a:prstGeom prst="rect">
            <a:avLst/>
          </a:prstGeom>
          <a:solidFill>
            <a:srgbClr val="FFF8EE"/>
          </a:solidFill>
          <a:ln w="19050">
            <a:solidFill>
              <a:srgbClr val="E868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2770632"/>
            <a:ext cx="2670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190488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279392"/>
            <a:ext cx="9144000" cy="566928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2793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Motor: Claude (Anthropic)  ·  Backend: FastAPI  ·  Datos: Supabase  ·  Frontend: accesible, mobile-first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fases hacia una infraestructura nacional.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2697480"/>
            <a:ext cx="813816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4A7BC9"/>
          </a:solidFill>
          <a:ln w="12700">
            <a:solidFill>
              <a:srgbClr val="4A7B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685800"/>
            <a:ext cx="1554480" cy="1600200"/>
          </a:xfrm>
          <a:prstGeom prst="rect">
            <a:avLst/>
          </a:prstGeom>
          <a:solidFill>
            <a:srgbClr val="4A7BC9"/>
          </a:solidFill>
          <a:ln w="12700">
            <a:solidFill>
              <a:srgbClr val="4A7B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9552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Demostrativo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3560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expediente,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163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2423160"/>
            <a:ext cx="548640" cy="548640"/>
          </a:xfrm>
          <a:prstGeom prst="ellipse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23160" y="3017520"/>
            <a:ext cx="1554480" cy="1600200"/>
          </a:xfrm>
          <a:prstGeom prst="rect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31272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376732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usuarios.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SERNAC.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28163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2423160"/>
            <a:ext cx="548640" cy="548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60520" y="685800"/>
            <a:ext cx="1554480" cy="1600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79552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143560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SERNAC, CMF,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bancos, PDI.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28163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2423160"/>
            <a:ext cx="548640" cy="5486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97880" y="3017520"/>
            <a:ext cx="1554480" cy="1600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31272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operabilidad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376732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bancarias,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ANCI, datos.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28163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772400" y="2423160"/>
            <a:ext cx="548640" cy="548640"/>
          </a:xfrm>
          <a:prstGeom prst="ellipse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35240" y="685800"/>
            <a:ext cx="1554480" cy="1600200"/>
          </a:xfrm>
          <a:prstGeom prst="rect">
            <a:avLst/>
          </a:prstGeom>
          <a:solidFill>
            <a:srgbClr val="E8680A"/>
          </a:solidFill>
          <a:ln w="12700">
            <a:solidFill>
              <a:srgbClr val="E868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79552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80960" y="143560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pública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referencia.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89520" y="28163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863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basta con que la ley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 del lado del consumidor.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estar diseñado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ayudarlo a activar esa ley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que el tiempo, la prueba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asimetría jueguen en su contra."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4041648"/>
            <a:ext cx="6400800" cy="0"/>
          </a:xfrm>
          <a:prstGeom prst="line">
            <a:avLst/>
          </a:prstGeom>
          <a:noFill/>
          <a:ln w="25400">
            <a:solidFill>
              <a:srgbClr val="E868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8795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AntiFraude / AlertaCuenta  ·  Plataforma de respuesta temprana ante fraude financiero digital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5902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en Claude Impact Lab Chile 2026  ·  Powered by Claude · Anthropic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fraude bancario al fallo sistémico</dc:title>
  <dc:subject>PptxGenJS Presentation</dc:subject>
  <dc:creator>AntiFraude / AlertaCuenta</dc:creator>
  <cp:lastModifiedBy>AntiFraude / AlertaCuenta</cp:lastModifiedBy>
  <cp:revision>1</cp:revision>
  <dcterms:created xsi:type="dcterms:W3CDTF">2026-05-07T12:34:46Z</dcterms:created>
  <dcterms:modified xsi:type="dcterms:W3CDTF">2026-05-07T12:34:46Z</dcterms:modified>
</cp:coreProperties>
</file>